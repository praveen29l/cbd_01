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69" r:id="rId3"/>
    <p:sldId id="257" r:id="rId4"/>
    <p:sldId id="273" r:id="rId5"/>
    <p:sldId id="275" r:id="rId6"/>
    <p:sldId id="276" r:id="rId7"/>
    <p:sldId id="280" r:id="rId8"/>
    <p:sldId id="277" r:id="rId9"/>
    <p:sldId id="278" r:id="rId10"/>
    <p:sldId id="279" r:id="rId11"/>
    <p:sldId id="281" r:id="rId12"/>
    <p:sldId id="271" r:id="rId13"/>
    <p:sldId id="268" r:id="rId14"/>
    <p:sldId id="270" r:id="rId15"/>
    <p:sldId id="265"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8E6909D9-37A1-AEC4-79F0-36E86737237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184FDAF-C2C6-0F2B-D106-85AC87B705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3B0B0AD4-4F33-2818-118B-3BA61AED8A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1692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56C7266D-55DE-066D-AE32-2B3DC360BDC5}"/>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371AC8E0-32F2-0F72-9AC4-18C93EFDA2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A30A1DF-EEAD-B128-22C6-FD4A309E6F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5757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0CCD9A74-A351-046D-83B9-E84A1810AC5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394EDE16-F7AE-48F7-BECF-825283D5CD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D6CA9461-1FB4-8F23-C651-45EED93196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9825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C28CBB98-726A-64FB-CDC8-BCD2AD93F940}"/>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7FBFFA95-B388-57A5-6BC3-5CFA95F41A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CA79DDDC-379F-B10C-628D-04040ECC48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4893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C365462B-9527-8DA2-954E-031277641EF7}"/>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BD9D366C-2B76-C05B-E556-E451107C9A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EF148B3-0974-7DEA-A56D-125D6570E2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4448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50E7F7B6-F1EC-8CD2-FBB8-E2ED1F8F46FB}"/>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F304F503-2CA7-FC43-B201-C22D773B2E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7A047082-F54C-DD5C-FB45-910C13CBA4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4454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1E0D28B1-23FA-D5AD-D317-392DC31D0EE3}"/>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5157CA5-1C1B-F0CF-F438-63C45A2ECE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3B54986D-D878-41F9-4025-B172E8AB43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808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Intelligent Enterprise Assistant: Enhancing Organizational </a:t>
            </a:r>
            <a:br>
              <a:rPr lang="en-US" sz="2400" dirty="0">
                <a:solidFill>
                  <a:schemeClr val="tx1"/>
                </a:solidFill>
                <a:latin typeface="Cambria" panose="02040503050406030204" pitchFamily="18" charset="0"/>
                <a:ea typeface="Cambria" panose="02040503050406030204" pitchFamily="18" charset="0"/>
              </a:rPr>
            </a:br>
            <a:r>
              <a:rPr lang="en-US" sz="2400" dirty="0">
                <a:solidFill>
                  <a:schemeClr val="tx1"/>
                </a:solidFill>
                <a:latin typeface="Cambria" panose="02040503050406030204" pitchFamily="18" charset="0"/>
                <a:ea typeface="Cambria" panose="02040503050406030204" pitchFamily="18" charset="0"/>
              </a:rPr>
              <a:t>Efficiency through AI-driven Chatbot Integration</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a:t>
            </a:r>
            <a:r>
              <a:rPr lang="en-GB" sz="1800" dirty="0" err="1">
                <a:latin typeface="Cambria" panose="02040503050406030204" pitchFamily="18" charset="0"/>
                <a:ea typeface="Cambria" panose="02040503050406030204" pitchFamily="18" charset="0"/>
              </a:rPr>
              <a:t>Number:</a:t>
            </a:r>
            <a:r>
              <a:rPr lang="en-GB" sz="1800" err="1">
                <a:latin typeface="Cambria" panose="02040503050406030204" pitchFamily="18" charset="0"/>
                <a:ea typeface="Cambria" panose="02040503050406030204" pitchFamily="18" charset="0"/>
              </a:rPr>
              <a:t>CBD</a:t>
            </a:r>
            <a:r>
              <a:rPr lang="en-GB" sz="1800">
                <a:latin typeface="Cambria" panose="02040503050406030204" pitchFamily="18" charset="0"/>
                <a:ea typeface="Cambria" panose="02040503050406030204" pitchFamily="18" charset="0"/>
              </a:rPr>
              <a:t>_1</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r>
              <a:rPr lang="en-GB" sz="1700" b="1" dirty="0">
                <a:solidFill>
                  <a:srgbClr val="17365D"/>
                </a:solidFill>
                <a:latin typeface="Cambria" panose="02040503050406030204" pitchFamily="18" charset="0"/>
                <a:ea typeface="Cambria" panose="02040503050406030204" pitchFamily="18" charset="0"/>
                <a:cs typeface="Verdana"/>
                <a:sym typeface="Verdana"/>
              </a:rPr>
              <a:t>  </a:t>
            </a:r>
            <a:r>
              <a:rPr lang="en-GB" sz="1700" b="1" dirty="0" err="1">
                <a:solidFill>
                  <a:srgbClr val="17365D"/>
                </a:solidFill>
                <a:latin typeface="Cambria" panose="02040503050406030204" pitchFamily="18" charset="0"/>
                <a:ea typeface="Cambria" panose="02040503050406030204" pitchFamily="18" charset="0"/>
                <a:cs typeface="Verdana"/>
                <a:sym typeface="Verdana"/>
              </a:rPr>
              <a:t>Pakruddin</a:t>
            </a:r>
            <a:r>
              <a:rPr lang="en-GB" sz="1700" b="1" dirty="0">
                <a:solidFill>
                  <a:srgbClr val="17365D"/>
                </a:solidFill>
                <a:latin typeface="Cambria" panose="02040503050406030204" pitchFamily="18" charset="0"/>
                <a:ea typeface="Cambria" panose="02040503050406030204" pitchFamily="18" charset="0"/>
                <a:cs typeface="Verdana"/>
                <a:sym typeface="Verdana"/>
              </a:rPr>
              <a:t> B</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355326964"/>
              </p:ext>
            </p:extLst>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20221CBD0037</a:t>
                      </a:r>
                    </a:p>
                    <a:p>
                      <a:pPr marL="0" marR="0" lvl="0" indent="0" algn="ctr" rtl="0">
                        <a:spcBef>
                          <a:spcPts val="0"/>
                        </a:spcBef>
                        <a:spcAft>
                          <a:spcPts val="0"/>
                        </a:spcAft>
                        <a:buFont typeface="+mj-lt"/>
                        <a:buNone/>
                      </a:pPr>
                      <a:r>
                        <a:rPr lang="en-US" sz="1800" u="none" strike="noStrike" cap="none" dirty="0"/>
                        <a:t>20221CBD0010</a:t>
                      </a:r>
                    </a:p>
                    <a:p>
                      <a:pPr marL="0" marR="0" lvl="0" indent="0" algn="ctr" rtl="0">
                        <a:spcBef>
                          <a:spcPts val="0"/>
                        </a:spcBef>
                        <a:spcAft>
                          <a:spcPts val="0"/>
                        </a:spcAft>
                        <a:buFont typeface="+mj-lt"/>
                        <a:buNone/>
                      </a:pPr>
                      <a:r>
                        <a:rPr lang="en-US" sz="1800" u="none" strike="noStrike" cap="none" dirty="0"/>
                        <a:t>20221CBD0054</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PRAVEEN R</a:t>
                      </a:r>
                    </a:p>
                    <a:p>
                      <a:pPr marL="0" marR="0" lvl="0" indent="0" algn="ctr" rtl="0">
                        <a:spcBef>
                          <a:spcPts val="0"/>
                        </a:spcBef>
                        <a:spcAft>
                          <a:spcPts val="0"/>
                        </a:spcAft>
                        <a:buNone/>
                      </a:pPr>
                      <a:r>
                        <a:rPr lang="en-US" sz="1800" u="none" strike="noStrike" cap="none" dirty="0"/>
                        <a:t>KUSHAL V</a:t>
                      </a:r>
                    </a:p>
                    <a:p>
                      <a:pPr marL="0" marR="0" lvl="0" indent="0" algn="ctr" rtl="0">
                        <a:spcBef>
                          <a:spcPts val="0"/>
                        </a:spcBef>
                        <a:spcAft>
                          <a:spcPts val="0"/>
                        </a:spcAft>
                        <a:buNone/>
                      </a:pPr>
                      <a:r>
                        <a:rPr lang="en-US" sz="1800" u="none" strike="noStrike" cap="none" dirty="0"/>
                        <a:t>MAHESH BABU P</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accent1"/>
                </a:solidFill>
                <a:latin typeface="Cambria" panose="02040503050406030204" pitchFamily="18" charset="0"/>
                <a:ea typeface="Cambria" panose="02040503050406030204" pitchFamily="18" charset="0"/>
                <a:cs typeface="Verdana"/>
                <a:sym typeface="Verdana"/>
              </a:rPr>
              <a:t>CBD-Computer Science &amp; Technology (Big Data)</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Dr.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Pravinthraja</a:t>
            </a:r>
            <a:r>
              <a:rPr lang="en-US" sz="1800" b="1" dirty="0">
                <a:solidFill>
                  <a:schemeClr val="accent1"/>
                </a:solidFill>
                <a:latin typeface="Cambria" panose="02040503050406030204" pitchFamily="18" charset="0"/>
                <a:ea typeface="Cambria" panose="02040503050406030204" pitchFamily="18" charset="0"/>
                <a:cs typeface="Verdana"/>
                <a:sym typeface="Verdana"/>
              </a:rPr>
              <a:t> S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accent1"/>
                </a:solidFill>
                <a:latin typeface="Cambria" panose="02040503050406030204" pitchFamily="18" charset="0"/>
                <a:ea typeface="Cambria" panose="02040503050406030204" pitchFamily="18" charset="0"/>
                <a:cs typeface="Verdana"/>
                <a:sym typeface="Verdana"/>
              </a:rPr>
              <a:t>Dr. H M Manjula</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PSCS_336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47500" lnSpcReduction="2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a:t>
            </a:r>
            <a:r>
              <a:rPr lang="en-US" dirty="0"/>
              <a:t>GAIL, Ministry of Petroleum and Natural Gas</a:t>
            </a:r>
            <a:r>
              <a:rPr lang="en-US" dirty="0">
                <a:latin typeface="Cambria" panose="02040503050406030204" pitchFamily="18" charset="0"/>
                <a:ea typeface="Cambria" panose="02040503050406030204" pitchFamily="18" charset="0"/>
              </a:rPr>
              <a:t> </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 </a:t>
            </a:r>
            <a:r>
              <a:rPr lang="en-US" dirty="0"/>
              <a:t>Develop a chatbot using deep learning and natural language processing techniques to accurately understand and respond to queries from employees of a large public sector organization. The chatbot should be capable of handling diverse questions related to HR policies, IT support, company events, and other organizational matters. (Hackathon students/teams to use publicly available sample information for HR Policy, IT Support, etc. available on internet.) Develop document processing capabilities for the chatbot to </a:t>
            </a:r>
            <a:r>
              <a:rPr lang="en-US" dirty="0" err="1"/>
              <a:t>analyse</a:t>
            </a:r>
            <a:r>
              <a:rPr lang="en-US" dirty="0"/>
              <a:t> and extract information from documents uploaded by employees. This includes summarizing a document or extracting text (keyword information) from documents relevant to organizational needs. (Hackathon students/teams can use any 8 to 10 page document for demonstration). Ensure the chatbot architecture is scalable to handle minimum 5 users parallelly. This includes optimizing response time (Response Time should not exceed 5 seconds for any query unless there is a technical issue like connectivity, etc.) Enable 2FA (2 Factor Authentication – email id type) in the chatbot for enhancing the security level of the chatbot. Chatbot should filter bad language as per system-maintained dictionary. </a:t>
            </a:r>
            <a:r>
              <a:rPr lang="en-US" dirty="0" err="1"/>
              <a:t>Youtube</a:t>
            </a:r>
            <a:r>
              <a:rPr lang="en-US" dirty="0"/>
              <a:t> Link/Video Link (3 Minute video explaining the Problem Statement): https://youtu.be/Q3pP7mRk5Qk NOTE: GAIL (INDIA) LTD will not provide any hardware, software, license, data or any other resource to SIH hackathon Teams. The teams should use free and/or open-source resources, as applicable, for the entire project.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Problem Statement</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SzPct val="100000"/>
              <a:buNone/>
            </a:pPr>
            <a:r>
              <a:rPr lang="en-US" dirty="0"/>
              <a:t>In large public sector organizations, employees often face challenges in quickly accessing accurate information related to HR policies, IT support, company events, and other organizational matters.</a:t>
            </a:r>
            <a:br>
              <a:rPr lang="en-US" dirty="0"/>
            </a:br>
            <a:r>
              <a:rPr lang="en-US" dirty="0"/>
              <a:t>Traditional query resolution methods involve multiple communication layers, leading to delays, reduced productivity, and employee dissatisfaction. Additionally, processing organizational documents for extracting important information or summaries is time-consuming and manual.</a:t>
            </a:r>
            <a:br>
              <a:rPr lang="en-US" dirty="0"/>
            </a:br>
            <a:r>
              <a:rPr lang="en-US" dirty="0"/>
              <a:t>There is a need for an </a:t>
            </a:r>
            <a:r>
              <a:rPr lang="en-US" b="1" dirty="0"/>
              <a:t>AI-driven, scalable, and secure</a:t>
            </a:r>
            <a:r>
              <a:rPr lang="en-US" dirty="0"/>
              <a:t> chatbot that can interact naturally with employees, process uploaded documents, and provide quick, accurate responses all while ensuring security, content filtering, and optimal performance.</a:t>
            </a:r>
          </a:p>
          <a:p>
            <a:pPr marL="342900" lvl="0" indent="-190500" algn="just" rtl="0">
              <a:spcBef>
                <a:spcPts val="0"/>
              </a:spcBef>
              <a:spcAft>
                <a:spcPts val="0"/>
              </a:spcAft>
              <a:buClr>
                <a:schemeClr val="dk1"/>
              </a:buClr>
              <a:buSzPct val="100000"/>
              <a:buNone/>
            </a:pPr>
            <a:endParaRPr lang="en-US" sz="32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50A45761-47C1-237F-F142-15FCD607A6E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2C57A96-EF13-A1D0-6243-32AEE241C6C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Objectives</a:t>
            </a:r>
            <a:endParaRPr lang="en-US"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2E321F7C-4AB4-2DB4-9577-81E095AA4FD9}"/>
              </a:ext>
            </a:extLst>
          </p:cNvPr>
          <p:cNvSpPr>
            <a:spLocks noGrp="1" noChangeArrowheads="1"/>
          </p:cNvSpPr>
          <p:nvPr>
            <p:ph type="body" idx="1"/>
          </p:nvPr>
        </p:nvSpPr>
        <p:spPr bwMode="auto">
          <a:xfrm>
            <a:off x="360516" y="1006774"/>
            <a:ext cx="1131912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Design and Develop an AI-driven Chatbot</a:t>
            </a:r>
            <a:r>
              <a:rPr kumimoji="0" lang="en-US" altLang="en-US" sz="1800" b="0" i="0" u="none" strike="noStrike" cap="none" normalizeH="0" baseline="0" dirty="0">
                <a:ln>
                  <a:noFill/>
                </a:ln>
                <a:solidFill>
                  <a:schemeClr val="tx1"/>
                </a:solidFill>
                <a:effectLst/>
                <a:latin typeface="Arial" panose="020B0604020202020204" pitchFamily="34" charset="0"/>
              </a:rPr>
              <a:t> using deep learning and NLP to handle diverse organizational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queries efficiently.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Integrate Document Processing</a:t>
            </a:r>
            <a:r>
              <a:rPr kumimoji="0" lang="en-US" altLang="en-US" sz="1800" b="0" i="0" u="none" strike="noStrike" cap="none" normalizeH="0" baseline="0" dirty="0">
                <a:ln>
                  <a:noFill/>
                </a:ln>
                <a:solidFill>
                  <a:schemeClr val="tx1"/>
                </a:solidFill>
                <a:effectLst/>
                <a:latin typeface="Arial" panose="020B0604020202020204" pitchFamily="34" charset="0"/>
              </a:rPr>
              <a:t> capabilities for extracting keywords and generating summaries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from uploaded documents.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Implement a Scalable Architecture</a:t>
            </a:r>
            <a:r>
              <a:rPr kumimoji="0" lang="en-US" altLang="en-US" sz="1800" b="0" i="0" u="none" strike="noStrike" cap="none" normalizeH="0" baseline="0" dirty="0">
                <a:ln>
                  <a:noFill/>
                </a:ln>
                <a:solidFill>
                  <a:schemeClr val="tx1"/>
                </a:solidFill>
                <a:effectLst/>
                <a:latin typeface="Arial" panose="020B0604020202020204" pitchFamily="34" charset="0"/>
              </a:rPr>
              <a:t> capable of handling at least 5 concurrent users with a response time of</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under 5 seconds.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Ensure Security with 2FA (Email-based Authentication)</a:t>
            </a:r>
            <a:r>
              <a:rPr kumimoji="0" lang="en-US" altLang="en-US" sz="1800" b="0" i="0" u="none" strike="noStrike" cap="none" normalizeH="0" baseline="0" dirty="0">
                <a:ln>
                  <a:noFill/>
                </a:ln>
                <a:solidFill>
                  <a:schemeClr val="tx1"/>
                </a:solidFill>
                <a:effectLst/>
                <a:latin typeface="Arial" panose="020B0604020202020204" pitchFamily="34" charset="0"/>
              </a:rPr>
              <a:t> to protect user accounts.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Enable Offensive Language Filtering</a:t>
            </a:r>
            <a:r>
              <a:rPr kumimoji="0" lang="en-US" altLang="en-US" sz="1800" b="0" i="0" u="none" strike="noStrike" cap="none" normalizeH="0" baseline="0" dirty="0">
                <a:ln>
                  <a:noFill/>
                </a:ln>
                <a:solidFill>
                  <a:schemeClr val="tx1"/>
                </a:solidFill>
                <a:effectLst/>
                <a:latin typeface="Arial" panose="020B0604020202020204" pitchFamily="34" charset="0"/>
              </a:rPr>
              <a:t> using a system-maintained bad word dictionary.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Create an Intuitive Web-based UI</a:t>
            </a:r>
            <a:r>
              <a:rPr kumimoji="0" lang="en-US" altLang="en-US" sz="1800" b="0" i="0" u="none" strike="noStrike" cap="none" normalizeH="0" baseline="0" dirty="0">
                <a:ln>
                  <a:noFill/>
                </a:ln>
                <a:solidFill>
                  <a:schemeClr val="tx1"/>
                </a:solidFill>
                <a:effectLst/>
                <a:latin typeface="Arial" panose="020B0604020202020204" pitchFamily="34" charset="0"/>
              </a:rPr>
              <a:t> using HTML, CSS, and JavaScript for seamless user interaction.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Leverage Open-Source Tools and APIs</a:t>
            </a:r>
            <a:r>
              <a:rPr kumimoji="0" lang="en-US" altLang="en-US" sz="1800" b="0" i="0" u="none" strike="noStrike" cap="none" normalizeH="0" baseline="0" dirty="0">
                <a:ln>
                  <a:noFill/>
                </a:ln>
                <a:solidFill>
                  <a:schemeClr val="tx1"/>
                </a:solidFill>
                <a:effectLst/>
                <a:latin typeface="Arial" panose="020B0604020202020204" pitchFamily="34" charset="0"/>
              </a:rPr>
              <a:t> to minimize cost and ensure compatibility with the hackathon’s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constraints.</a:t>
            </a:r>
          </a:p>
        </p:txBody>
      </p:sp>
    </p:spTree>
    <p:extLst>
      <p:ext uri="{BB962C8B-B14F-4D97-AF65-F5344CB8AC3E}">
        <p14:creationId xmlns:p14="http://schemas.microsoft.com/office/powerpoint/2010/main" val="2969342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4CE01E7C-7F14-0BAF-9942-762CD46004EA}"/>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670DEF5-2F39-378B-CCAE-D3FB47D500EB}"/>
              </a:ext>
            </a:extLst>
          </p:cNvPr>
          <p:cNvSpPr txBox="1">
            <a:spLocks noGrp="1"/>
          </p:cNvSpPr>
          <p:nvPr>
            <p:ph type="title"/>
          </p:nvPr>
        </p:nvSpPr>
        <p:spPr>
          <a:xfrm>
            <a:off x="762000" y="274500"/>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Background and Related work </a:t>
            </a:r>
          </a:p>
        </p:txBody>
      </p:sp>
      <p:sp>
        <p:nvSpPr>
          <p:cNvPr id="115" name="Google Shape;115;p17">
            <a:extLst>
              <a:ext uri="{FF2B5EF4-FFF2-40B4-BE49-F238E27FC236}">
                <a16:creationId xmlns:a16="http://schemas.microsoft.com/office/drawing/2014/main" id="{EE6622C4-0D70-D664-8B63-D0C049089848}"/>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20000"/>
          </a:bodyPr>
          <a:lstStyle/>
          <a:p>
            <a:pPr marL="76200" indent="0">
              <a:buNone/>
            </a:pPr>
            <a:r>
              <a:rPr lang="en-US" b="1" dirty="0"/>
              <a:t>Background</a:t>
            </a:r>
          </a:p>
          <a:p>
            <a:r>
              <a:rPr lang="en-US" dirty="0"/>
              <a:t>In today’s fast-paced organizational environments, efficient access to information is critical to maintaining productivity. Public sector organizations, in particular, often face bottlenecks in communication due to hierarchical structures and manual information retrieval processes.</a:t>
            </a:r>
          </a:p>
          <a:p>
            <a:r>
              <a:rPr lang="en-US" dirty="0"/>
              <a:t>AI-driven chatbots have emerged as a transformative solution by leveraging </a:t>
            </a:r>
            <a:r>
              <a:rPr lang="en-US" b="1" dirty="0"/>
              <a:t>Natural Language Processing (NLP)</a:t>
            </a:r>
            <a:r>
              <a:rPr lang="en-US" dirty="0"/>
              <a:t> and </a:t>
            </a:r>
            <a:r>
              <a:rPr lang="en-US" b="1" dirty="0"/>
              <a:t>Machine Learning (ML)</a:t>
            </a:r>
            <a:r>
              <a:rPr lang="en-US" dirty="0"/>
              <a:t> to understand user queries and deliver instant, context-aware responses. Such systems can also process and summarize documents, ensuring employees have quick access to relevant information without navigating multiple portals.</a:t>
            </a:r>
          </a:p>
          <a:p>
            <a:r>
              <a:rPr lang="en-US" dirty="0"/>
              <a:t>Advancements in </a:t>
            </a:r>
            <a:r>
              <a:rPr lang="en-US" b="1" dirty="0"/>
              <a:t>cloud-based AI services</a:t>
            </a:r>
            <a:r>
              <a:rPr lang="en-US" dirty="0"/>
              <a:t>, </a:t>
            </a:r>
            <a:r>
              <a:rPr lang="en-US" b="1" dirty="0"/>
              <a:t>open-source NLP libraries</a:t>
            </a:r>
            <a:r>
              <a:rPr lang="en-US" dirty="0"/>
              <a:t>, and </a:t>
            </a:r>
            <a:r>
              <a:rPr lang="en-US" b="1" dirty="0"/>
              <a:t>web-based integration</a:t>
            </a:r>
            <a:r>
              <a:rPr lang="en-US" dirty="0"/>
              <a:t> have made it possible to develop intelligent assistants that can be deployed quickly, scaled easily, and customized for specific domains such as HR, IT support, and policy queries.</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88842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9DB9648-99F8-53FC-A90E-BE5072B2EA29}"/>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CE965CD-D50F-F613-2E1C-F469DE939EB4}"/>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Background and Related work(contd...)</a:t>
            </a:r>
          </a:p>
        </p:txBody>
      </p:sp>
      <p:sp>
        <p:nvSpPr>
          <p:cNvPr id="115" name="Google Shape;115;p17">
            <a:extLst>
              <a:ext uri="{FF2B5EF4-FFF2-40B4-BE49-F238E27FC236}">
                <a16:creationId xmlns:a16="http://schemas.microsoft.com/office/drawing/2014/main" id="{5C884BBD-E9FC-BED0-7619-19E967E7396A}"/>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76200" indent="0">
              <a:buNone/>
            </a:pPr>
            <a:r>
              <a:rPr lang="en-US" b="1" dirty="0"/>
              <a:t>Related Work</a:t>
            </a:r>
          </a:p>
          <a:p>
            <a:r>
              <a:rPr lang="en-US" b="1" dirty="0"/>
              <a:t>IBM Watson Assistant</a:t>
            </a:r>
            <a:r>
              <a:rPr lang="en-US" dirty="0"/>
              <a:t> – Offers enterprise-grade chatbot solutions capable of handling complex queries but requires high subscription costs, making it less accessible for budget-constrained public sector organizations.</a:t>
            </a:r>
          </a:p>
          <a:p>
            <a:r>
              <a:rPr lang="en-US" b="1" dirty="0"/>
              <a:t>Google </a:t>
            </a:r>
            <a:r>
              <a:rPr lang="en-US" b="1" dirty="0" err="1"/>
              <a:t>Dialogflow</a:t>
            </a:r>
            <a:r>
              <a:rPr lang="en-US" dirty="0"/>
              <a:t> – Provides NLP-based chatbot frameworks but often relies heavily on predefined intents and may need custom enhancements for document processing and multi-domain handling.</a:t>
            </a:r>
          </a:p>
          <a:p>
            <a:r>
              <a:rPr lang="en-US" b="1" dirty="0"/>
              <a:t>Microsoft Bot Framework</a:t>
            </a:r>
            <a:r>
              <a:rPr lang="en-US" dirty="0"/>
              <a:t> – Supports AI integration with enterprise tools but requires substantial setup and infrastructure.</a:t>
            </a:r>
          </a:p>
          <a:p>
            <a:r>
              <a:rPr lang="en-US" b="1" dirty="0"/>
              <a:t>Open-source Chatbots (e.g., Rasa, Botpress)</a:t>
            </a:r>
            <a:r>
              <a:rPr lang="en-US" dirty="0"/>
              <a:t> – Allow for customization and domain-specific training, but require significant development effort for advanced features like document summarization and bad word filtering.</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0044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D91703A-1706-3633-AAEC-BE87A12CF3C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714DEA5-C2F6-41DF-1E22-6D08D089C0B3}"/>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Architecture</a:t>
            </a:r>
          </a:p>
        </p:txBody>
      </p:sp>
      <p:pic>
        <p:nvPicPr>
          <p:cNvPr id="4100" name="Picture 4" descr="Generated image">
            <a:extLst>
              <a:ext uri="{FF2B5EF4-FFF2-40B4-BE49-F238E27FC236}">
                <a16:creationId xmlns:a16="http://schemas.microsoft.com/office/drawing/2014/main" id="{3483F638-7869-68A3-BA2C-64C4E352C5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084" y="1042221"/>
            <a:ext cx="6872747" cy="4925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026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C4A8036-827E-EC29-1F16-722F3B12B559}"/>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5213757-622A-0471-A67E-B51AFA524DA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p>
        </p:txBody>
      </p:sp>
      <p:sp>
        <p:nvSpPr>
          <p:cNvPr id="115" name="Google Shape;115;p17">
            <a:extLst>
              <a:ext uri="{FF2B5EF4-FFF2-40B4-BE49-F238E27FC236}">
                <a16:creationId xmlns:a16="http://schemas.microsoft.com/office/drawing/2014/main" id="{EEECBE46-E0AC-60BE-68C6-6BEBFA7B6C39}"/>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sz="1600" b="1" dirty="0"/>
              <a:t>1. Background</a:t>
            </a:r>
          </a:p>
          <a:p>
            <a:r>
              <a:rPr lang="en-US" sz="1600" dirty="0"/>
              <a:t>In large organizations, employees often struggle to quickly access information such as </a:t>
            </a:r>
            <a:r>
              <a:rPr lang="en-US" sz="1600" b="1" dirty="0"/>
              <a:t>HR policies, IT support procedures, company events, and other organizational resources</a:t>
            </a:r>
            <a:r>
              <a:rPr lang="en-US" sz="1600" dirty="0"/>
              <a:t>.</a:t>
            </a:r>
            <a:br>
              <a:rPr lang="en-US" sz="1600" dirty="0"/>
            </a:br>
            <a:r>
              <a:rPr lang="en-US" sz="1600" dirty="0"/>
              <a:t>Traditional methods (emails, manuals, or calling support desks) are:</a:t>
            </a:r>
          </a:p>
          <a:p>
            <a:r>
              <a:rPr lang="en-US" sz="1600" b="1" dirty="0"/>
              <a:t>Time-consuming</a:t>
            </a:r>
            <a:endParaRPr lang="en-US" sz="1600" dirty="0"/>
          </a:p>
          <a:p>
            <a:r>
              <a:rPr lang="en-US" sz="1600" b="1" dirty="0"/>
              <a:t>Prone to delays</a:t>
            </a:r>
            <a:endParaRPr lang="en-US" sz="1600" dirty="0"/>
          </a:p>
          <a:p>
            <a:r>
              <a:rPr lang="en-US" sz="1600" b="1" dirty="0"/>
              <a:t>Inconsistent</a:t>
            </a:r>
            <a:r>
              <a:rPr lang="en-US" sz="1600" dirty="0"/>
              <a:t> in answers</a:t>
            </a:r>
          </a:p>
          <a:p>
            <a:pPr marL="76200" indent="0">
              <a:buNone/>
            </a:pPr>
            <a:r>
              <a:rPr lang="en-US" sz="1600" b="1" dirty="0"/>
              <a:t>2. Current Challenges</a:t>
            </a:r>
          </a:p>
          <a:p>
            <a:r>
              <a:rPr lang="en-US" sz="1600" b="1" dirty="0"/>
              <a:t>Information is scattered</a:t>
            </a:r>
            <a:r>
              <a:rPr lang="en-US" sz="1600" dirty="0"/>
              <a:t> across multiple platforms (HR portal, IT ticket system, notice boards, etc.).</a:t>
            </a:r>
          </a:p>
          <a:p>
            <a:r>
              <a:rPr lang="en-US" sz="1600" b="1" dirty="0"/>
              <a:t>Manual support</a:t>
            </a:r>
            <a:r>
              <a:rPr lang="en-US" sz="1600" dirty="0"/>
              <a:t> from HR/IT teams causes delays, especially for repetitive queries.</a:t>
            </a:r>
          </a:p>
          <a:p>
            <a:r>
              <a:rPr lang="en-US" sz="1600" b="1" dirty="0"/>
              <a:t>Lack of 24/7 availability</a:t>
            </a:r>
            <a:r>
              <a:rPr lang="en-US" sz="1600" dirty="0"/>
              <a:t> for answering employee questions.</a:t>
            </a:r>
          </a:p>
          <a:p>
            <a:r>
              <a:rPr lang="en-US" sz="1600" b="1" dirty="0"/>
              <a:t>Low efficiency</a:t>
            </a:r>
            <a:r>
              <a:rPr lang="en-US" sz="1600" dirty="0"/>
              <a:t> in searching long policy documents.</a:t>
            </a:r>
          </a:p>
          <a:p>
            <a:r>
              <a:rPr lang="en-US" sz="1600" b="1" dirty="0"/>
              <a:t>Limited personalization</a:t>
            </a:r>
            <a:r>
              <a:rPr lang="en-US" sz="1600" dirty="0"/>
              <a:t> — every employee receives the same general answer, regardless of role or department.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60793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B8E7BC73-236B-1033-738C-D6AC075AEA2E}"/>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C28E3075-C515-2AD9-1D62-19B68BD4434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a:extLst>
              <a:ext uri="{FF2B5EF4-FFF2-40B4-BE49-F238E27FC236}">
                <a16:creationId xmlns:a16="http://schemas.microsoft.com/office/drawing/2014/main" id="{709323A5-9F12-A625-C286-EFF56346E76C}"/>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sz="1600" b="1" dirty="0"/>
              <a:t>3. Need for a Solution</a:t>
            </a:r>
          </a:p>
          <a:p>
            <a:r>
              <a:rPr lang="en-US" sz="1600" dirty="0"/>
              <a:t>An </a:t>
            </a:r>
            <a:r>
              <a:rPr lang="en-US" sz="1600" b="1" dirty="0"/>
              <a:t>AI-powered chatbot</a:t>
            </a:r>
            <a:r>
              <a:rPr lang="en-US" sz="1600" dirty="0"/>
              <a:t> can:</a:t>
            </a:r>
          </a:p>
          <a:p>
            <a:r>
              <a:rPr lang="en-US" sz="1600" dirty="0"/>
              <a:t>Provide </a:t>
            </a:r>
            <a:r>
              <a:rPr lang="en-US" sz="1600" b="1" dirty="0"/>
              <a:t>instant, consistent, and accurate responses</a:t>
            </a:r>
            <a:r>
              <a:rPr lang="en-US" sz="1600" dirty="0"/>
              <a:t> to common queries.</a:t>
            </a:r>
          </a:p>
          <a:p>
            <a:r>
              <a:rPr lang="en-US" sz="1600" b="1" dirty="0"/>
              <a:t>Integrate</a:t>
            </a:r>
            <a:r>
              <a:rPr lang="en-US" sz="1600" dirty="0"/>
              <a:t> with external services (HR databases, IT support APIs, etc.).</a:t>
            </a:r>
          </a:p>
          <a:p>
            <a:r>
              <a:rPr lang="en-US" sz="1600" dirty="0"/>
              <a:t>Work </a:t>
            </a:r>
            <a:r>
              <a:rPr lang="en-US" sz="1600" b="1" dirty="0"/>
              <a:t>24/7</a:t>
            </a:r>
            <a:r>
              <a:rPr lang="en-US" sz="1600" dirty="0"/>
              <a:t> without extra manpower.</a:t>
            </a:r>
          </a:p>
          <a:p>
            <a:r>
              <a:rPr lang="en-US" sz="1600" dirty="0"/>
              <a:t>Offer </a:t>
            </a:r>
            <a:r>
              <a:rPr lang="en-US" sz="1600" b="1" dirty="0"/>
              <a:t>multilingual support</a:t>
            </a:r>
            <a:r>
              <a:rPr lang="en-US" sz="1600" dirty="0"/>
              <a:t> if needed.</a:t>
            </a:r>
          </a:p>
          <a:p>
            <a:r>
              <a:rPr lang="en-US" sz="1600" dirty="0"/>
              <a:t>Reduce workload on HR and IT departments.</a:t>
            </a:r>
          </a:p>
          <a:p>
            <a:pPr marL="76200" indent="0">
              <a:buNone/>
            </a:pPr>
            <a:r>
              <a:rPr lang="en-US" sz="1600" b="1" dirty="0"/>
              <a:t>4. Scope of the Problem</a:t>
            </a:r>
          </a:p>
          <a:p>
            <a:r>
              <a:rPr lang="en-US" sz="1600" dirty="0"/>
              <a:t>The problem is </a:t>
            </a:r>
            <a:r>
              <a:rPr lang="en-US" sz="1600" b="1" dirty="0"/>
              <a:t>not just technical</a:t>
            </a:r>
            <a:r>
              <a:rPr lang="en-US" sz="1600" dirty="0"/>
              <a:t> but also </a:t>
            </a:r>
            <a:r>
              <a:rPr lang="en-US" sz="1600" b="1" dirty="0"/>
              <a:t>organizational</a:t>
            </a:r>
            <a:r>
              <a:rPr lang="en-US" sz="1600" dirty="0"/>
              <a:t>:</a:t>
            </a:r>
          </a:p>
          <a:p>
            <a:r>
              <a:rPr lang="en-US" sz="1600" dirty="0"/>
              <a:t>Employees waste productive hours searching for information.</a:t>
            </a:r>
          </a:p>
          <a:p>
            <a:r>
              <a:rPr lang="en-US" sz="1600" dirty="0"/>
              <a:t>HR/IT staff spend too much time on repetitive, simple queries instead of important tasks.</a:t>
            </a:r>
          </a:p>
          <a:p>
            <a:r>
              <a:rPr lang="en-US" sz="1600" dirty="0"/>
              <a:t>Company onboarding and training are slowed down due to inefficient information access.</a:t>
            </a:r>
          </a:p>
          <a:p>
            <a:pPr marL="76200" indent="0">
              <a:buNone/>
            </a:pPr>
            <a:endParaRPr lang="en-US" sz="1600" dirty="0"/>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67472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B3B2A3DC-1547-F1A2-0DE6-86FB34AE5062}"/>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565CD37-1BB2-E454-EAD4-1F07B8F8191D}"/>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a:extLst>
              <a:ext uri="{FF2B5EF4-FFF2-40B4-BE49-F238E27FC236}">
                <a16:creationId xmlns:a16="http://schemas.microsoft.com/office/drawing/2014/main" id="{FB789226-8803-5A2A-7E91-1638B7AE3C3F}"/>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sz="1600" b="1" dirty="0"/>
              <a:t>5. Proposed Approach</a:t>
            </a:r>
          </a:p>
          <a:p>
            <a:r>
              <a:rPr lang="en-US" sz="1600" dirty="0"/>
              <a:t>Develop a </a:t>
            </a:r>
            <a:r>
              <a:rPr lang="en-US" sz="1600" b="1" dirty="0"/>
              <a:t>Flask-based chatbot</a:t>
            </a:r>
            <a:r>
              <a:rPr lang="en-US" sz="1600" dirty="0"/>
              <a:t> integrated with </a:t>
            </a:r>
            <a:r>
              <a:rPr lang="en-US" sz="1600" b="1" dirty="0"/>
              <a:t>NLP</a:t>
            </a:r>
            <a:r>
              <a:rPr lang="en-US" sz="1600" dirty="0"/>
              <a:t> for understanding queries.</a:t>
            </a:r>
          </a:p>
          <a:p>
            <a:r>
              <a:rPr lang="en-US" sz="1600" dirty="0"/>
              <a:t>Connect with </a:t>
            </a:r>
            <a:r>
              <a:rPr lang="en-US" sz="1600" b="1" dirty="0"/>
              <a:t>external services</a:t>
            </a:r>
            <a:r>
              <a:rPr lang="en-US" sz="1600" dirty="0"/>
              <a:t> like HR policy APIs, IT ticketing systems, and event calendars.</a:t>
            </a:r>
          </a:p>
          <a:p>
            <a:r>
              <a:rPr lang="en-US" sz="1600" dirty="0"/>
              <a:t>Build a </a:t>
            </a:r>
            <a:r>
              <a:rPr lang="en-US" sz="1600" b="1" dirty="0"/>
              <a:t>user-friendly interface</a:t>
            </a:r>
            <a:r>
              <a:rPr lang="en-US" sz="1600" dirty="0"/>
              <a:t> for easy interaction.</a:t>
            </a:r>
          </a:p>
          <a:p>
            <a:r>
              <a:rPr lang="en-US" sz="1600" dirty="0"/>
              <a:t>Include </a:t>
            </a:r>
            <a:r>
              <a:rPr lang="en-US" sz="1600" b="1" dirty="0"/>
              <a:t>search and document processing</a:t>
            </a:r>
            <a:r>
              <a:rPr lang="en-US" sz="1600" dirty="0"/>
              <a:t> capabilities.</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9537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Innovation or Novel Contributions</a:t>
            </a:r>
            <a:endParaRPr lang="en-US" sz="3600"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1030930A-DD22-54F3-8C5A-D7F1C210C1F0}"/>
              </a:ext>
            </a:extLst>
          </p:cNvPr>
          <p:cNvSpPr>
            <a:spLocks noGrp="1" noChangeArrowheads="1"/>
          </p:cNvSpPr>
          <p:nvPr>
            <p:ph type="body" idx="1"/>
          </p:nvPr>
        </p:nvSpPr>
        <p:spPr bwMode="auto">
          <a:xfrm>
            <a:off x="339761" y="1582340"/>
            <a:ext cx="1161407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AI-powered Document Understanding </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Integration of </a:t>
            </a:r>
            <a:r>
              <a:rPr kumimoji="0" lang="en-US" altLang="en-US" sz="1800" b="1" i="0" u="none" strike="noStrike" cap="none" normalizeH="0" baseline="0" dirty="0">
                <a:ln>
                  <a:noFill/>
                </a:ln>
                <a:solidFill>
                  <a:schemeClr val="tx1"/>
                </a:solidFill>
                <a:effectLst/>
                <a:latin typeface="Arial" panose="020B0604020202020204" pitchFamily="34" charset="0"/>
              </a:rPr>
              <a:t>custom document parser</a:t>
            </a:r>
            <a:r>
              <a:rPr kumimoji="0" lang="en-US" altLang="en-US" sz="1800" b="0" i="0" u="none" strike="noStrike" cap="none" normalizeH="0" baseline="0" dirty="0">
                <a:ln>
                  <a:noFill/>
                </a:ln>
                <a:solidFill>
                  <a:schemeClr val="tx1"/>
                </a:solidFill>
                <a:effectLst/>
                <a:latin typeface="Arial" panose="020B0604020202020204" pitchFamily="34" charset="0"/>
              </a:rPr>
              <a:t> with semantic embeddings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to enable deep contextual search beyond keyword matching.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Multi-layer Security with 2FA:</a:t>
            </a:r>
            <a:r>
              <a:rPr kumimoji="0" lang="en-US" altLang="en-US" sz="1800" b="0" i="0" u="none" strike="noStrike" cap="none" normalizeH="0" baseline="0" dirty="0">
                <a:ln>
                  <a:noFill/>
                </a:ln>
                <a:solidFill>
                  <a:schemeClr val="tx1"/>
                </a:solidFill>
                <a:effectLst/>
                <a:latin typeface="Arial" panose="020B0604020202020204" pitchFamily="34" charset="0"/>
              </a:rPr>
              <a:t>Backend authentication enhanced with </a:t>
            </a:r>
            <a:r>
              <a:rPr kumimoji="0" lang="en-US" altLang="en-US" sz="1800" b="1" i="0" u="none" strike="noStrike" cap="none" normalizeH="0" baseline="0" dirty="0">
                <a:ln>
                  <a:noFill/>
                </a:ln>
                <a:solidFill>
                  <a:schemeClr val="tx1"/>
                </a:solidFill>
                <a:effectLst/>
                <a:latin typeface="Arial" panose="020B0604020202020204" pitchFamily="34" charset="0"/>
              </a:rPr>
              <a:t>Two-Factor Authentication</a:t>
            </a:r>
            <a:r>
              <a:rPr kumimoji="0" lang="en-US" altLang="en-US" sz="1800" b="0" i="0" u="none" strike="noStrike" cap="none" normalizeH="0" baseline="0" dirty="0">
                <a:ln>
                  <a:noFill/>
                </a:ln>
                <a:solidFill>
                  <a:schemeClr val="tx1"/>
                </a:solidFill>
                <a:effectLst/>
                <a:latin typeface="Arial" panose="020B0604020202020204" pitchFamily="34" charset="0"/>
              </a:rPr>
              <a:t> ensuring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secure access to sensitive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Summarization with Profanity Filtering : </a:t>
            </a:r>
            <a:r>
              <a:rPr kumimoji="0" lang="en-US" altLang="en-US" sz="1800" b="0" i="0" u="none" strike="noStrike" cap="none" normalizeH="0" baseline="0" dirty="0">
                <a:ln>
                  <a:noFill/>
                </a:ln>
                <a:solidFill>
                  <a:schemeClr val="tx1"/>
                </a:solidFill>
                <a:effectLst/>
                <a:latin typeface="Arial" panose="020B0604020202020204" pitchFamily="34" charset="0"/>
              </a:rPr>
              <a:t>Novel combination of </a:t>
            </a:r>
            <a:r>
              <a:rPr kumimoji="0" lang="en-US" altLang="en-US" sz="1800" b="1" i="0" u="none" strike="noStrike" cap="none" normalizeH="0" baseline="0" dirty="0">
                <a:ln>
                  <a:noFill/>
                </a:ln>
                <a:solidFill>
                  <a:schemeClr val="tx1"/>
                </a:solidFill>
                <a:effectLst/>
                <a:latin typeface="Arial" panose="020B0604020202020204" pitchFamily="34" charset="0"/>
              </a:rPr>
              <a:t>on-the-fly summarization</a:t>
            </a:r>
            <a:r>
              <a:rPr kumimoji="0" lang="en-US" altLang="en-US" sz="1800" b="0" i="0" u="none" strike="noStrike" cap="none" normalizeH="0" baseline="0" dirty="0">
                <a:ln>
                  <a:noFill/>
                </a:ln>
                <a:solidFill>
                  <a:schemeClr val="tx1"/>
                </a:solidFill>
                <a:effectLst/>
                <a:latin typeface="Arial" panose="020B0604020202020204" pitchFamily="34" charset="0"/>
              </a:rPr>
              <a:t> with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context-aware profanity detection</a:t>
            </a:r>
            <a:r>
              <a:rPr kumimoji="0" lang="en-US" altLang="en-US" sz="1800" b="0" i="0" u="none" strike="noStrike" cap="none" normalizeH="0" baseline="0" dirty="0">
                <a:ln>
                  <a:noFill/>
                </a:ln>
                <a:solidFill>
                  <a:schemeClr val="tx1"/>
                </a:solidFill>
                <a:effectLst/>
                <a:latin typeface="Arial" panose="020B0604020202020204" pitchFamily="34" charset="0"/>
              </a:rPr>
              <a:t> for maintaining professional responses.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Unified Chat UI with Embedded AI Services : </a:t>
            </a:r>
            <a:r>
              <a:rPr kumimoji="0" lang="en-US" altLang="en-US" sz="1800" b="0" i="0" u="none" strike="noStrike" cap="none" normalizeH="0" baseline="0" dirty="0">
                <a:ln>
                  <a:noFill/>
                </a:ln>
                <a:solidFill>
                  <a:schemeClr val="tx1"/>
                </a:solidFill>
                <a:effectLst/>
                <a:latin typeface="Arial" panose="020B0604020202020204" pitchFamily="34" charset="0"/>
              </a:rPr>
              <a:t>Seamless integration of </a:t>
            </a:r>
            <a:r>
              <a:rPr kumimoji="0" lang="en-US" altLang="en-US" sz="1800" b="1" i="0" u="none" strike="noStrike" cap="none" normalizeH="0" baseline="0" dirty="0">
                <a:ln>
                  <a:noFill/>
                </a:ln>
                <a:solidFill>
                  <a:schemeClr val="tx1"/>
                </a:solidFill>
                <a:effectLst/>
                <a:latin typeface="Arial" panose="020B0604020202020204" pitchFamily="34" charset="0"/>
              </a:rPr>
              <a:t>chat interface</a:t>
            </a:r>
            <a:r>
              <a:rPr kumimoji="0" lang="en-US" altLang="en-US" sz="1800" b="0" i="0" u="none" strike="noStrike" cap="none" normalizeH="0" baseline="0" dirty="0">
                <a:ln>
                  <a:noFill/>
                </a:ln>
                <a:solidFill>
                  <a:schemeClr val="tx1"/>
                </a:solidFill>
                <a:effectLst/>
                <a:latin typeface="Arial" panose="020B0604020202020204" pitchFamily="34" charset="0"/>
              </a:rPr>
              <a:t>, AI summarizer,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and doc search in a single interactive platform.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Customizable Workflow Gantt Tracking : </a:t>
            </a:r>
            <a:r>
              <a:rPr kumimoji="0" lang="en-US" altLang="en-US" sz="1800" b="0" i="0" u="none" strike="noStrike" cap="none" normalizeH="0" baseline="0" dirty="0">
                <a:ln>
                  <a:noFill/>
                </a:ln>
                <a:solidFill>
                  <a:schemeClr val="tx1"/>
                </a:solidFill>
                <a:effectLst/>
                <a:latin typeface="Arial" panose="020B0604020202020204" pitchFamily="34" charset="0"/>
              </a:rPr>
              <a:t>Built-in project tracking feature with </a:t>
            </a:r>
            <a:r>
              <a:rPr kumimoji="0" lang="en-US" altLang="en-US" sz="1800" b="1" i="0" u="none" strike="noStrike" cap="none" normalizeH="0" baseline="0" dirty="0">
                <a:ln>
                  <a:noFill/>
                </a:ln>
                <a:solidFill>
                  <a:schemeClr val="tx1"/>
                </a:solidFill>
                <a:effectLst/>
                <a:latin typeface="Arial" panose="020B0604020202020204" pitchFamily="34" charset="0"/>
              </a:rPr>
              <a:t>Gantt visualization</a:t>
            </a:r>
            <a:r>
              <a:rPr kumimoji="0" lang="en-US" altLang="en-US" sz="1800" b="0" i="0" u="none" strike="noStrike" cap="none" normalizeH="0" baseline="0" dirty="0">
                <a:ln>
                  <a:noFill/>
                </a:ln>
                <a:solidFill>
                  <a:schemeClr val="tx1"/>
                </a:solidFill>
                <a:effectLst/>
                <a:latin typeface="Arial" panose="020B0604020202020204" pitchFamily="34" charset="0"/>
              </a:rPr>
              <a:t> to help</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users monitor development progress.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Scalable Architecture </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Backend design using </a:t>
            </a:r>
            <a:r>
              <a:rPr kumimoji="0" lang="en-US" altLang="en-US" sz="1800" b="1" i="0" u="none" strike="noStrike" cap="none" normalizeH="0" baseline="0" dirty="0">
                <a:ln>
                  <a:noFill/>
                </a:ln>
                <a:solidFill>
                  <a:schemeClr val="tx1"/>
                </a:solidFill>
                <a:effectLst/>
                <a:latin typeface="Arial" panose="020B0604020202020204" pitchFamily="34" charset="0"/>
              </a:rPr>
              <a:t>Flask + modular AI microservices</a:t>
            </a:r>
            <a:r>
              <a:rPr kumimoji="0" lang="en-US" altLang="en-US" sz="1800" b="0" i="0" u="none" strike="noStrike" cap="none" normalizeH="0" baseline="0" dirty="0">
                <a:ln>
                  <a:noFill/>
                </a:ln>
                <a:solidFill>
                  <a:schemeClr val="tx1"/>
                </a:solidFill>
                <a:effectLst/>
                <a:latin typeface="Arial" panose="020B0604020202020204" pitchFamily="34" charset="0"/>
              </a:rPr>
              <a:t> for easy scaling and future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feature expansion.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0455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 : </a:t>
            </a:r>
            <a:r>
              <a:rPr lang="en-IN" b="1" dirty="0">
                <a:solidFill>
                  <a:schemeClr val="accent2">
                    <a:lumMod val="75000"/>
                  </a:schemeClr>
                </a:solidFill>
                <a:latin typeface="Cambria" panose="02040503050406030204" pitchFamily="18" charset="0"/>
                <a:ea typeface="Cambria" panose="02040503050406030204" pitchFamily="18" charset="0"/>
              </a:rPr>
              <a:t>https://github.com/praveen29L</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2050" name="Picture 2">
            <a:extLst>
              <a:ext uri="{FF2B5EF4-FFF2-40B4-BE49-F238E27FC236}">
                <a16:creationId xmlns:a16="http://schemas.microsoft.com/office/drawing/2014/main" id="{C96CA6AB-4A0D-4BDF-ED60-5BED9E565A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0526" y="1025012"/>
            <a:ext cx="7211963" cy="480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989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r>
              <a:rPr lang="en-US" dirty="0">
                <a:latin typeface="Cambria" panose="02040503050406030204" pitchFamily="18" charset="0"/>
                <a:ea typeface="Cambria" panose="02040503050406030204" pitchFamily="18" charset="0"/>
              </a:rPr>
              <a:t>[1] S. Gupta, A. Sharma, and M. Kumar, "An Intelligent Chatbot for Document-Based Query Answering," in 2021 IEEE International Conference on AI, pp. 45–50, 2021.</a:t>
            </a:r>
          </a:p>
          <a:p>
            <a:pPr marL="152400" indent="0">
              <a:spcBef>
                <a:spcPts val="0"/>
              </a:spcBef>
              <a:buNone/>
            </a:pPr>
            <a:r>
              <a:rPr lang="en-US" dirty="0">
                <a:latin typeface="Cambria" panose="02040503050406030204" pitchFamily="18" charset="0"/>
                <a:ea typeface="Cambria" panose="02040503050406030204" pitchFamily="18" charset="0"/>
              </a:rPr>
              <a:t>[2] Microsoft, “Azure Bot Service Documentation,” 2024. [Online]. Available: https://learn.microsoft.com/azure/bot-service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508</TotalTime>
  <Words>1464</Words>
  <Application>Microsoft Office PowerPoint</Application>
  <PresentationFormat>Widescreen</PresentationFormat>
  <Paragraphs>129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Cambria</vt:lpstr>
      <vt:lpstr>Verdana</vt:lpstr>
      <vt:lpstr>Wingdings</vt:lpstr>
      <vt:lpstr>Bioinformatics</vt:lpstr>
      <vt:lpstr>Intelligent Enterprise Assistant: Enhancing Organizational  Efficiency through AI-driven Chatbot Integration</vt:lpstr>
      <vt:lpstr>Problem Statement Number: PSCS_336 </vt:lpstr>
      <vt:lpstr>Content</vt:lpstr>
      <vt:lpstr>Problem Statement</vt:lpstr>
      <vt:lpstr>Objectives</vt:lpstr>
      <vt:lpstr>Background and Related work </vt:lpstr>
      <vt:lpstr>Background and Related work(contd...)</vt:lpstr>
      <vt:lpstr>Architecture</vt:lpstr>
      <vt:lpstr>Analysis of Problem Statement </vt:lpstr>
      <vt:lpstr>Analysis of Problem Statement (contd...)</vt:lpstr>
      <vt:lpstr>Analysis of Problem Statement (contd...)</vt:lpstr>
      <vt:lpstr>Innovation or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PRAVEEN R</cp:lastModifiedBy>
  <cp:revision>44</cp:revision>
  <dcterms:modified xsi:type="dcterms:W3CDTF">2025-08-24T07:13:02Z</dcterms:modified>
</cp:coreProperties>
</file>